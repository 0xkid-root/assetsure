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Barlow"/>
      <p:regular r:id="rId16"/>
    </p:embeddedFont>
    <p:embeddedFont>
      <p:font typeface="Barlow"/>
      <p:regular r:id="rId17"/>
    </p:embeddedFont>
    <p:embeddedFont>
      <p:font typeface="Barlow"/>
      <p:regular r:id="rId18"/>
    </p:embeddedFont>
    <p:embeddedFont>
      <p:font typeface="Barlow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Montserrat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358265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Assetsure: Enterprise-Grade RWA-Backed Lending Platform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3821311"/>
            <a:ext cx="7627382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Assetsure bridges traditional finance and decentralized finance by enabling secure, transparent lending and borrowing backed by real-world assets (RWAs). This platform leverages blockchain technology to unlock liquidity through tokenization, offering enterprise-grade compliance and risk management. It empowers institutions, businesses, and individuals to access capital while maintaining regulatory adherence and financial security.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58309" y="6508194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29" y="6515814"/>
            <a:ext cx="331351" cy="3313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3128" y="6492002"/>
            <a:ext cx="2441615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by Gaurav Kumar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5412" y="677228"/>
            <a:ext cx="5054084" cy="62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Core Value Proposition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6155412" y="1592699"/>
            <a:ext cx="7805976" cy="1423035"/>
          </a:xfrm>
          <a:prstGeom prst="roundRect">
            <a:avLst>
              <a:gd name="adj" fmla="val 12091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6990" dist="22860" dir="1350000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346508" y="1783794"/>
            <a:ext cx="2567464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Asset-Backed Security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346508" y="2212896"/>
            <a:ext cx="7423785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lending position is collateralized by tokenized real-world assets verified through multi-layer authentication.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55412" y="3206829"/>
            <a:ext cx="7805976" cy="1423035"/>
          </a:xfrm>
          <a:prstGeom prst="roundRect">
            <a:avLst>
              <a:gd name="adj" fmla="val 12091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6990" dist="22860" dir="1350000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46508" y="3397925"/>
            <a:ext cx="2539841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Multi-Chain Operations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346508" y="3827026"/>
            <a:ext cx="7423785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Seamless interoperability across Ethereum, Binance Smart Chain, Polygon, and more.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55412" y="4820960"/>
            <a:ext cx="7805976" cy="1423035"/>
          </a:xfrm>
          <a:prstGeom prst="roundRect">
            <a:avLst>
              <a:gd name="adj" fmla="val 12091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6990" dist="22860" dir="1350000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46508" y="5012055"/>
            <a:ext cx="3017520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Enterprise Risk Framework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346508" y="5441156"/>
            <a:ext cx="7423785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Proprietary risk assessment and real-time collateral monitoring ensure financial stability.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55412" y="6435090"/>
            <a:ext cx="7805976" cy="1117163"/>
          </a:xfrm>
          <a:prstGeom prst="roundRect">
            <a:avLst>
              <a:gd name="adj" fmla="val 15401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6990" dist="22860" dir="13500000">
              <a:srgbClr val="ffffff">
                <a:alpha val="7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46508" y="6626185"/>
            <a:ext cx="2614732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Automated Compliance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346508" y="7055287"/>
            <a:ext cx="7423785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Built-in KYC/AML and regulatory reporting streamline enterprise adoption.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66294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Platform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917150"/>
            <a:ext cx="315825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RWA Tokenization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489960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Multi-layer asset verification with legal and financial audits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259104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ERC-3643 smart contracts for compliant token issuance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5028248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Oracle integration for real-time asset valuation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797391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KYC/AML and regulatory reporting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12926" y="2917150"/>
            <a:ext cx="371629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Risk Management Framework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12926" y="3489960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asset risk scoring and collateral monitoring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12926" y="4259104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liquidation triggers and optional insurance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312926" y="5028248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analytics and predictive market modeling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67543" y="291715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 Interface Layer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67543" y="3489960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Responsive web and mobile apps with role-based access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867543" y="4259104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RESTful APIs and Web3-compatible endpoints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867543" y="5028248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Multi-factor authentication and cold storage security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611505"/>
            <a:ext cx="727876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Wallet Management Features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1649135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462326" y="1723549"/>
            <a:ext cx="289345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Multi-Chain Integration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62326" y="2209681"/>
            <a:ext cx="692336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Supports Pharos Blockhain, and popular wallets like MetaMask and hardware wallets.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58309" y="3336369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462326" y="341078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Real-Time Tracking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62326" y="3896916"/>
            <a:ext cx="692336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balance updates and transaction status alerts across multiple chains.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5023604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462326" y="5098018"/>
            <a:ext cx="475988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Transaction Types &amp; Gas Optimization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62326" y="5584150"/>
            <a:ext cx="692336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Send, receive, swap, stake assets with dynamic gas fee estimation and prioritization options.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58309" y="6710839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462326" y="678525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Transaction History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462326" y="727138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Detailed logs with filtering and exportable reports for auditing.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05928"/>
            <a:ext cx="701301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Portfolio Management Suite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03621" y="29254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Asset Tracking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411617"/>
            <a:ext cx="439602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valuation of tokenized RWAs and digital assets with multiple fiat and crypto currencies.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94831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779" y="3285946"/>
            <a:ext cx="243721" cy="304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475946" y="309884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Performance Metrics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475946" y="3584972"/>
            <a:ext cx="43961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ROI, yield calculations, and benchmarking against market indices.</a:t>
            </a:r>
            <a:endParaRPr lang="en-US" sz="1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93715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442662" y="3285946"/>
            <a:ext cx="243721" cy="304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9475946" y="50971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Tokenization Status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9475946" y="5583317"/>
            <a:ext cx="43961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Monitoring progress with alerts for verification and compliance issues.</a:t>
            </a:r>
            <a:endParaRPr lang="en-US" sz="17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293715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442662" y="5784830"/>
            <a:ext cx="243721" cy="304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2303621" y="492383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Analytics Dashboard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758309" y="5409962"/>
            <a:ext cx="439602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Customizable widgets and exportable charts for portfolio overview and risk exposure.</a:t>
            </a:r>
            <a:endParaRPr lang="en-US" sz="17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794831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5943779" y="5784830"/>
            <a:ext cx="243721" cy="304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5418" y="713065"/>
            <a:ext cx="6256853" cy="675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Finance &amp; Lending Module</a:t>
            </a:r>
            <a:endParaRPr lang="en-US" sz="4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418" y="1696998"/>
            <a:ext cx="1027152" cy="15290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0704" y="1902381"/>
            <a:ext cx="270307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Lending Pools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7540704" y="2363391"/>
            <a:ext cx="6370677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 pools with customizable risk profiles, interest rates, and lockup periods.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418" y="3225998"/>
            <a:ext cx="1027152" cy="15290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40704" y="3431381"/>
            <a:ext cx="270307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Position Management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7540704" y="3892391"/>
            <a:ext cx="6370677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contract-based lending and borrowing with real-time collateral status updates.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418" y="4754999"/>
            <a:ext cx="1027152" cy="12325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40704" y="4960382"/>
            <a:ext cx="29765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APY &amp; Yield Optimization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7540704" y="5421392"/>
            <a:ext cx="6370677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APY calculations and algorithms to maximize returns.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5418" y="5987534"/>
            <a:ext cx="1027152" cy="152900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40704" y="6192917"/>
            <a:ext cx="3300889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Collateral &amp; Pool Monitoring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7540704" y="6653927"/>
            <a:ext cx="6370677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top-up notifications, liquidation protection, and liquidity alerts.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405658"/>
            <a:ext cx="724912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Technology Stack &amp; Security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659862"/>
            <a:ext cx="288190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Blockchain &amp; Smart Contracts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588907"/>
            <a:ext cx="288190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Pharos Blockchain with audited Solidity contracts using ERC-3643.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76474" y="365986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Oracles &amp; 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76474" y="4232672"/>
            <a:ext cx="288190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Chainlink price feeds and custom oracles for asset valuation.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94640" y="365986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Frontend &amp; Backend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4640" y="4232672"/>
            <a:ext cx="288190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js , Node.js, MongoDB, for APIs and data.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012805" y="3659862"/>
            <a:ext cx="286893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Security &amp; Compliance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2805" y="4232672"/>
            <a:ext cx="288190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AES-256 encryption, multi-signature wallets, KYC/AML integration, and regulatory adherence.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1011" y="546378"/>
            <a:ext cx="6551652" cy="652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 Cases Across Industries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181011" y="1496854"/>
            <a:ext cx="7754779" cy="1477208"/>
          </a:xfrm>
          <a:prstGeom prst="roundRect">
            <a:avLst>
              <a:gd name="adj" fmla="val 1209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9530" dist="24130" dir="1350000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379369" y="1695212"/>
            <a:ext cx="2611398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 Estate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379369" y="2140625"/>
            <a:ext cx="735806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Fractional ownership and collateralized lending for illiquid property portfolios.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181011" y="3172420"/>
            <a:ext cx="7754779" cy="1477208"/>
          </a:xfrm>
          <a:prstGeom prst="roundRect">
            <a:avLst>
              <a:gd name="adj" fmla="val 1209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9530" dist="24130" dir="1350000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79369" y="3370778"/>
            <a:ext cx="2611398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Commodities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6379369" y="3816191"/>
            <a:ext cx="735806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Tokenization of metals, agriculture, and energy assets for supply chain financing.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181011" y="4847987"/>
            <a:ext cx="7754779" cy="1159669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9530" dist="24130" dir="1350000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79369" y="5046345"/>
            <a:ext cx="2611398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Art &amp; Collectibles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379369" y="5491758"/>
            <a:ext cx="735806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Collateralized loans with provenance tracking for high-value items.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181011" y="6206014"/>
            <a:ext cx="7754779" cy="1477208"/>
          </a:xfrm>
          <a:prstGeom prst="roundRect">
            <a:avLst>
              <a:gd name="adj" fmla="val 1209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9530" dist="24130" dir="13500000">
              <a:srgbClr val="ffffff">
                <a:alpha val="7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79369" y="6404372"/>
            <a:ext cx="3345061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SMEs &amp; Financial Institutions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379369" y="6849785"/>
            <a:ext cx="735806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tokenized receivables as collateral and integrate RWA lending via APIs.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5540" y="581144"/>
            <a:ext cx="5661779" cy="69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 &amp; Roadmap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225540" y="1592580"/>
            <a:ext cx="475059" cy="475059"/>
          </a:xfrm>
          <a:prstGeom prst="roundRect">
            <a:avLst>
              <a:gd name="adj" fmla="val 40009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2070" dist="25400" dir="1350000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296382" y="1621750"/>
            <a:ext cx="333375" cy="416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911697" y="1665089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Q3 2025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911697" y="2139077"/>
            <a:ext cx="69795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Beta launch with Pharos Blockchain.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225540" y="2899291"/>
            <a:ext cx="475059" cy="475059"/>
          </a:xfrm>
          <a:prstGeom prst="roundRect">
            <a:avLst>
              <a:gd name="adj" fmla="val 40009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2070" dist="25400" dir="13500000">
              <a:srgbClr val="ffffff">
                <a:alpha val="7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96382" y="2928461"/>
            <a:ext cx="333375" cy="416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911697" y="2971800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Q4 2025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6911697" y="3445788"/>
            <a:ext cx="69795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 of Binance Smart Chain and Solana.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225540" y="4206002"/>
            <a:ext cx="475059" cy="475059"/>
          </a:xfrm>
          <a:prstGeom prst="roundRect">
            <a:avLst>
              <a:gd name="adj" fmla="val 40009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2070" dist="25400" dir="13500000">
              <a:srgbClr val="ffffff">
                <a:alpha val="7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96382" y="4235172"/>
            <a:ext cx="333375" cy="416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911697" y="4278511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Q1 2026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6911697" y="4752499"/>
            <a:ext cx="69795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Rollout of insurance protocol and advanced analytics.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6225540" y="5512713"/>
            <a:ext cx="475059" cy="475059"/>
          </a:xfrm>
          <a:prstGeom prst="roundRect">
            <a:avLst>
              <a:gd name="adj" fmla="val 40009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2070" dist="25400" dir="13500000">
              <a:srgbClr val="ffffff">
                <a:alpha val="7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96382" y="5541883"/>
            <a:ext cx="333375" cy="416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911697" y="5585222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Q2 2026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6911697" y="6059210"/>
            <a:ext cx="69795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enterprise API suite and white-label solutions.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225540" y="6634639"/>
            <a:ext cx="7665720" cy="101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Assetsure combines real-world asset security with DeFi efficiency, prioritizing compliance, risk management, and user experience to lead enterprise-grade RWA tokenization and lending.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2025-05-14T19:33:37Z</dcterms:created>
  <dcterms:modified xsi:type="dcterms:W3CDTF">2025-05-14T19:33:37Z</dcterms:modified>
</cp:coreProperties>
</file>